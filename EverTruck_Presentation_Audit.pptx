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1D3D"/>
          </a:solidFill>
          <a:ln>
            <a:solidFill>
              <a:srgbClr val="001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914400" y="1645920"/>
            <a:ext cx="182880" cy="2926080"/>
          </a:xfrm>
          <a:prstGeom prst="rect">
            <a:avLst/>
          </a:prstGeom>
          <a:solidFill>
            <a:srgbClr val="E63946"/>
          </a:solidFill>
          <a:ln>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828800"/>
            <a:ext cx="9601200" cy="2560320"/>
          </a:xfrm>
          <a:prstGeom prst="rect">
            <a:avLst/>
          </a:prstGeom>
          <a:noFill/>
        </p:spPr>
        <p:txBody>
          <a:bodyPr wrap="none">
            <a:spAutoFit/>
          </a:bodyPr>
          <a:lstStyle/>
          <a:p>
            <a:pPr>
              <a:defRPr sz="4800" b="1">
                <a:solidFill>
                  <a:srgbClr val="FFFFFF"/>
                </a:solidFill>
              </a:defRPr>
            </a:pPr>
            <a:r>
              <a:t>EVERTRUCK LOGISTICS</a:t>
            </a:r>
          </a:p>
          <a:p>
            <a:pPr>
              <a:defRPr sz="2400">
                <a:solidFill>
                  <a:srgbClr val="0FA3B1"/>
                </a:solidFill>
              </a:defRPr>
            </a:pPr>
            <a:r>
              <a:t>Audit Architecture &amp; Rapport Technique — Production-Ready</a:t>
            </a:r>
          </a:p>
          <a:p>
            <a:br/>
            <a:pPr>
              <a:defRPr sz="1600">
                <a:solidFill>
                  <a:srgbClr val="B4C8DC"/>
                </a:solidFill>
              </a:defRPr>
            </a:pPr>
            <a:r>
              <a:t>Plateforme Monorepo TypeScript • React 19 • Three.js • Hono • tRPC 11 • MySQL 8 • Docker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01D3D"/>
          </a:solidFill>
          <a:ln>
            <a:solidFill>
              <a:srgbClr val="001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73152"/>
          </a:xfrm>
          <a:prstGeom prst="rect">
            <a:avLst/>
          </a:prstGeom>
          <a:solidFill>
            <a:srgbClr val="E63946"/>
          </a:solidFill>
          <a:ln>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9144000" cy="274320"/>
          </a:xfrm>
          <a:prstGeom prst="rect">
            <a:avLst/>
          </a:prstGeom>
          <a:noFill/>
        </p:spPr>
        <p:txBody>
          <a:bodyPr wrap="none">
            <a:spAutoFit/>
          </a:bodyPr>
          <a:lstStyle/>
          <a:p>
            <a:pPr>
              <a:defRPr sz="1100" b="1">
                <a:solidFill>
                  <a:srgbClr val="0FA3B1"/>
                </a:solidFill>
              </a:defRPr>
            </a:pPr>
            <a:r>
              <a:t>AUDIT TECHNIQUE EVERTRUCK</a:t>
            </a:r>
          </a:p>
        </p:txBody>
      </p:sp>
      <p:sp>
        <p:nvSpPr>
          <p:cNvPr id="5" name="TextBox 4"/>
          <p:cNvSpPr txBox="1"/>
          <p:nvPr/>
        </p:nvSpPr>
        <p:spPr>
          <a:xfrm>
            <a:off x="548640" y="347472"/>
            <a:ext cx="10972800" cy="548640"/>
          </a:xfrm>
          <a:prstGeom prst="rect">
            <a:avLst/>
          </a:prstGeom>
          <a:noFill/>
        </p:spPr>
        <p:txBody>
          <a:bodyPr wrap="none">
            <a:spAutoFit/>
          </a:bodyPr>
          <a:lstStyle/>
          <a:p>
            <a:pPr>
              <a:defRPr sz="2600" b="1">
                <a:solidFill>
                  <a:srgbClr val="FFFFFF"/>
                </a:solidFill>
              </a:defRPr>
            </a:pPr>
            <a:r>
              <a:t>Résumé Exécutif &amp; Chiffres Clés</a:t>
            </a:r>
          </a:p>
        </p:txBody>
      </p:sp>
      <p:pic>
        <p:nvPicPr>
          <p:cNvPr id="6" name="Picture 5" descr="stats_chart.png"/>
          <p:cNvPicPr>
            <a:picLocks noChangeAspect="1"/>
          </p:cNvPicPr>
          <p:nvPr/>
        </p:nvPicPr>
        <p:blipFill>
          <a:blip r:embed="rId2"/>
          <a:stretch>
            <a:fillRect/>
          </a:stretch>
        </p:blipFill>
        <p:spPr>
          <a:xfrm>
            <a:off x="548640" y="1371600"/>
            <a:ext cx="11064240" cy="4917440"/>
          </a:xfrm>
          <a:prstGeom prst="rect">
            <a:avLst/>
          </a:prstGeom>
        </p:spPr>
      </p:pic>
      <p:sp>
        <p:nvSpPr>
          <p:cNvPr id="7" name="TextBox 6"/>
          <p:cNvSpPr txBox="1"/>
          <p:nvPr/>
        </p:nvSpPr>
        <p:spPr>
          <a:xfrm>
            <a:off x="548640" y="5120640"/>
            <a:ext cx="11064240" cy="1371600"/>
          </a:xfrm>
          <a:prstGeom prst="rect">
            <a:avLst/>
          </a:prstGeom>
          <a:noFill/>
        </p:spPr>
        <p:txBody>
          <a:bodyPr wrap="square">
            <a:spAutoFit/>
          </a:bodyPr>
          <a:lstStyle/>
          <a:p>
            <a:pPr>
              <a:defRPr sz="1800">
                <a:solidFill>
                  <a:srgbClr val="14191E"/>
                </a:solidFill>
              </a:defRPr>
            </a:pPr>
            <a:r>
              <a:t>🎯 Objectif : Présenter la structure et les atouts d'EverTruck, une plateforme logistique conçue sous la forme d'un Monorepo moderne et hautement sécurisé pour la gestion de fret en temps réel.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01D3D"/>
          </a:solidFill>
          <a:ln>
            <a:solidFill>
              <a:srgbClr val="001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73152"/>
          </a:xfrm>
          <a:prstGeom prst="rect">
            <a:avLst/>
          </a:prstGeom>
          <a:solidFill>
            <a:srgbClr val="E63946"/>
          </a:solidFill>
          <a:ln>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9144000" cy="274320"/>
          </a:xfrm>
          <a:prstGeom prst="rect">
            <a:avLst/>
          </a:prstGeom>
          <a:noFill/>
        </p:spPr>
        <p:txBody>
          <a:bodyPr wrap="none">
            <a:spAutoFit/>
          </a:bodyPr>
          <a:lstStyle/>
          <a:p>
            <a:pPr>
              <a:defRPr sz="1100" b="1">
                <a:solidFill>
                  <a:srgbClr val="0FA3B1"/>
                </a:solidFill>
              </a:defRPr>
            </a:pPr>
            <a:r>
              <a:t>AUDIT TECHNIQUE EVERTRUCK</a:t>
            </a:r>
          </a:p>
        </p:txBody>
      </p:sp>
      <p:sp>
        <p:nvSpPr>
          <p:cNvPr id="5" name="TextBox 4"/>
          <p:cNvSpPr txBox="1"/>
          <p:nvPr/>
        </p:nvSpPr>
        <p:spPr>
          <a:xfrm>
            <a:off x="548640" y="347472"/>
            <a:ext cx="10972800" cy="548640"/>
          </a:xfrm>
          <a:prstGeom prst="rect">
            <a:avLst/>
          </a:prstGeom>
          <a:noFill/>
        </p:spPr>
        <p:txBody>
          <a:bodyPr wrap="none">
            <a:spAutoFit/>
          </a:bodyPr>
          <a:lstStyle/>
          <a:p>
            <a:pPr>
              <a:defRPr sz="2600" b="1">
                <a:solidFill>
                  <a:srgbClr val="FFFFFF"/>
                </a:solidFill>
              </a:defRPr>
            </a:pPr>
            <a:r>
              <a:t>Architecture Monorepo &amp; Conteneurisation</a:t>
            </a:r>
          </a:p>
        </p:txBody>
      </p:sp>
      <p:pic>
        <p:nvPicPr>
          <p:cNvPr id="6" name="Picture 5" descr="architecture_schema.png"/>
          <p:cNvPicPr>
            <a:picLocks noChangeAspect="1"/>
          </p:cNvPicPr>
          <p:nvPr/>
        </p:nvPicPr>
        <p:blipFill>
          <a:blip r:embed="rId2"/>
          <a:stretch>
            <a:fillRect/>
          </a:stretch>
        </p:blipFill>
        <p:spPr>
          <a:xfrm>
            <a:off x="1097280" y="1371600"/>
            <a:ext cx="9966960" cy="5481828"/>
          </a:xfrm>
          <a:prstGeom prst="rect">
            <a:avLst/>
          </a:prstGeom>
        </p:spPr>
      </p:pic>
      <p:sp>
        <p:nvSpPr>
          <p:cNvPr id="7" name="TextBox 6"/>
          <p:cNvSpPr txBox="1"/>
          <p:nvPr/>
        </p:nvSpPr>
        <p:spPr>
          <a:xfrm>
            <a:off x="548640" y="5486400"/>
            <a:ext cx="11064240" cy="1097280"/>
          </a:xfrm>
          <a:prstGeom prst="rect">
            <a:avLst/>
          </a:prstGeom>
          <a:noFill/>
        </p:spPr>
        <p:txBody>
          <a:bodyPr wrap="square">
            <a:spAutoFit/>
          </a:bodyPr>
          <a:lstStyle/>
          <a:p>
            <a:pPr>
              <a:defRPr sz="1600">
                <a:solidFill>
                  <a:srgbClr val="001D3D"/>
                </a:solidFill>
              </a:defRPr>
            </a:pPr>
            <a:r>
              <a:t>🐳 Isolation complète réseau (evertruck-network) : Nginx gère le SSL et le Gzip en amont, le Frontend sert l'UI et les éléments 3D (Port 3000), le Backend Hono/tRPC pilote MySQL 8 et Redis 7 (Port 4000).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01D3D"/>
          </a:solidFill>
          <a:ln>
            <a:solidFill>
              <a:srgbClr val="001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73152"/>
          </a:xfrm>
          <a:prstGeom prst="rect">
            <a:avLst/>
          </a:prstGeom>
          <a:solidFill>
            <a:srgbClr val="E63946"/>
          </a:solidFill>
          <a:ln>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9144000" cy="274320"/>
          </a:xfrm>
          <a:prstGeom prst="rect">
            <a:avLst/>
          </a:prstGeom>
          <a:noFill/>
        </p:spPr>
        <p:txBody>
          <a:bodyPr wrap="none">
            <a:spAutoFit/>
          </a:bodyPr>
          <a:lstStyle/>
          <a:p>
            <a:pPr>
              <a:defRPr sz="1100" b="1">
                <a:solidFill>
                  <a:srgbClr val="0FA3B1"/>
                </a:solidFill>
              </a:defRPr>
            </a:pPr>
            <a:r>
              <a:t>COUCHE CLIENT / SPA</a:t>
            </a:r>
          </a:p>
        </p:txBody>
      </p:sp>
      <p:sp>
        <p:nvSpPr>
          <p:cNvPr id="5" name="TextBox 4"/>
          <p:cNvSpPr txBox="1"/>
          <p:nvPr/>
        </p:nvSpPr>
        <p:spPr>
          <a:xfrm>
            <a:off x="548640" y="347472"/>
            <a:ext cx="10972800" cy="548640"/>
          </a:xfrm>
          <a:prstGeom prst="rect">
            <a:avLst/>
          </a:prstGeom>
          <a:noFill/>
        </p:spPr>
        <p:txBody>
          <a:bodyPr wrap="none">
            <a:spAutoFit/>
          </a:bodyPr>
          <a:lstStyle/>
          <a:p>
            <a:pPr>
              <a:defRPr sz="2600" b="1">
                <a:solidFill>
                  <a:srgbClr val="FFFFFF"/>
                </a:solidFill>
              </a:defRPr>
            </a:pPr>
            <a:r>
              <a:t>Audit Frontend : React 19, UI/UX Premium &amp; Rendu 3D</a:t>
            </a:r>
          </a:p>
        </p:txBody>
      </p:sp>
      <p:sp>
        <p:nvSpPr>
          <p:cNvPr id="6" name="Rounded Rectangle 5"/>
          <p:cNvSpPr/>
          <p:nvPr/>
        </p:nvSpPr>
        <p:spPr>
          <a:xfrm>
            <a:off x="548640" y="1371600"/>
            <a:ext cx="5303520" cy="4937760"/>
          </a:xfrm>
          <a:prstGeom prst="roundRect">
            <a:avLst/>
          </a:prstGeom>
          <a:solidFill>
            <a:srgbClr val="F5F7FA"/>
          </a:solidFill>
          <a:ln>
            <a:solidFill>
              <a:srgbClr val="0FA3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554480"/>
            <a:ext cx="4937760" cy="4572000"/>
          </a:xfrm>
          <a:prstGeom prst="rect">
            <a:avLst/>
          </a:prstGeom>
          <a:noFill/>
        </p:spPr>
        <p:txBody>
          <a:bodyPr wrap="square">
            <a:spAutoFit/>
          </a:bodyPr>
          <a:lstStyle/>
          <a:p>
            <a:pPr>
              <a:defRPr b="1" sz="2000">
                <a:solidFill>
                  <a:srgbClr val="001D3D"/>
                </a:solidFill>
              </a:defRPr>
            </a:pPr>
            <a:r>
              <a:t>⚡ Stack Technologique &amp; Design</a:t>
            </a:r>
          </a:p>
          <a:p>
            <a:pPr>
              <a:spcBef>
                <a:spcPts val="1200"/>
              </a:spcBef>
              <a:defRPr sz="1500">
                <a:solidFill>
                  <a:srgbClr val="14191E"/>
                </a:solidFill>
              </a:defRPr>
            </a:pPr>
            <a:r>
              <a:t>• React 19 + TypeScript + Vite 7 pour un build instantané et une fluidité maximale.</a:t>
            </a:r>
          </a:p>
          <a:p>
            <a:pPr>
              <a:spcBef>
                <a:spcPts val="1200"/>
              </a:spcBef>
              <a:defRPr sz="1500">
                <a:solidFill>
                  <a:srgbClr val="14191E"/>
                </a:solidFill>
              </a:defRPr>
            </a:pPr>
            <a:r>
              <a:t>• Palette de couleurs exclusive : Navy (#001d3d) institutionnel, Crimson (#e63946) pour les alertes/CTA, et Teal (#0fa3b1).</a:t>
            </a:r>
          </a:p>
          <a:p>
            <a:pPr>
              <a:spcBef>
                <a:spcPts val="1200"/>
              </a:spcBef>
              <a:defRPr sz="1500">
                <a:solidFill>
                  <a:srgbClr val="14191E"/>
                </a:solidFill>
              </a:defRPr>
            </a:pPr>
            <a:r>
              <a:t>• Immersion 3D (Three.js / React Three Fiber) : Animations et scènes interactives sur la page d'accueil.</a:t>
            </a:r>
          </a:p>
          <a:p>
            <a:pPr>
              <a:spcBef>
                <a:spcPts val="1200"/>
              </a:spcBef>
              <a:defRPr sz="1500">
                <a:solidFill>
                  <a:srgbClr val="14191E"/>
                </a:solidFill>
              </a:defRPr>
            </a:pPr>
            <a:r>
              <a:t>• Animations Framer Motion &amp; GSAP avec défilement doux (Lenis Scroll).</a:t>
            </a:r>
          </a:p>
        </p:txBody>
      </p:sp>
      <p:sp>
        <p:nvSpPr>
          <p:cNvPr id="8" name="Rounded Rectangle 7"/>
          <p:cNvSpPr/>
          <p:nvPr/>
        </p:nvSpPr>
        <p:spPr>
          <a:xfrm>
            <a:off x="6217920" y="1371600"/>
            <a:ext cx="5303520" cy="4937760"/>
          </a:xfrm>
          <a:prstGeom prst="roundRect">
            <a:avLst/>
          </a:prstGeom>
          <a:solidFill>
            <a:srgbClr val="F5F7FA"/>
          </a:solidFill>
          <a:ln>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554480"/>
            <a:ext cx="4937760" cy="4572000"/>
          </a:xfrm>
          <a:prstGeom prst="rect">
            <a:avLst/>
          </a:prstGeom>
          <a:noFill/>
        </p:spPr>
        <p:txBody>
          <a:bodyPr wrap="square">
            <a:spAutoFit/>
          </a:bodyPr>
          <a:lstStyle/>
          <a:p>
            <a:pPr>
              <a:defRPr b="1" sz="2000">
                <a:solidFill>
                  <a:srgbClr val="E63946"/>
                </a:solidFill>
              </a:defRPr>
            </a:pPr>
            <a:r>
              <a:t>📑 Structure &amp; Performance des Pages</a:t>
            </a:r>
          </a:p>
          <a:p>
            <a:pPr>
              <a:spcBef>
                <a:spcPts val="1200"/>
              </a:spcBef>
              <a:defRPr sz="1500">
                <a:solidFill>
                  <a:srgbClr val="14191E"/>
                </a:solidFill>
              </a:defRPr>
            </a:pPr>
            <a:r>
              <a:t>• Chargement Eager / Lazy : Les pages critiques sont instantanées, les pages secondaires déportées via React.lazy().</a:t>
            </a:r>
          </a:p>
          <a:p>
            <a:pPr>
              <a:spcBef>
                <a:spcPts val="1200"/>
              </a:spcBef>
              <a:defRPr sz="1500">
                <a:solidFill>
                  <a:srgbClr val="14191E"/>
                </a:solidFill>
              </a:defRPr>
            </a:pPr>
            <a:r>
              <a:t>• Pages Vitrine : Accueil avec compteurs en temps réel, Flotte interactive, Demande de devis multi-étapes avec calcul de volume.</a:t>
            </a:r>
          </a:p>
          <a:p>
            <a:pPr>
              <a:spcBef>
                <a:spcPts val="1200"/>
              </a:spcBef>
              <a:defRPr sz="1500">
                <a:solidFill>
                  <a:srgbClr val="14191E"/>
                </a:solidFill>
              </a:defRPr>
            </a:pPr>
            <a:r>
              <a:t>• Espace Client / Tracking : Suivi en direct du statut d'acheminement (pending, in_transit, delivered).</a:t>
            </a:r>
          </a:p>
          <a:p>
            <a:pPr>
              <a:spcBef>
                <a:spcPts val="1200"/>
              </a:spcBef>
              <a:defRPr sz="1500">
                <a:solidFill>
                  <a:srgbClr val="14191E"/>
                </a:solidFill>
              </a:defRPr>
            </a:pPr>
            <a:r>
              <a:t>• Dashboard Admin : 11 onglets pour piloter l'intégralité du CRM et du parc routier sans requête SQL manuelle.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01D3D"/>
          </a:solidFill>
          <a:ln>
            <a:solidFill>
              <a:srgbClr val="001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73152"/>
          </a:xfrm>
          <a:prstGeom prst="rect">
            <a:avLst/>
          </a:prstGeom>
          <a:solidFill>
            <a:srgbClr val="E63946"/>
          </a:solidFill>
          <a:ln>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9144000" cy="274320"/>
          </a:xfrm>
          <a:prstGeom prst="rect">
            <a:avLst/>
          </a:prstGeom>
          <a:noFill/>
        </p:spPr>
        <p:txBody>
          <a:bodyPr wrap="none">
            <a:spAutoFit/>
          </a:bodyPr>
          <a:lstStyle/>
          <a:p>
            <a:pPr>
              <a:defRPr sz="1100" b="1">
                <a:solidFill>
                  <a:srgbClr val="0FA3B1"/>
                </a:solidFill>
              </a:defRPr>
            </a:pPr>
            <a:r>
              <a:t>COUCHE SERVEUR API</a:t>
            </a:r>
          </a:p>
        </p:txBody>
      </p:sp>
      <p:sp>
        <p:nvSpPr>
          <p:cNvPr id="5" name="TextBox 4"/>
          <p:cNvSpPr txBox="1"/>
          <p:nvPr/>
        </p:nvSpPr>
        <p:spPr>
          <a:xfrm>
            <a:off x="548640" y="347472"/>
            <a:ext cx="10972800" cy="548640"/>
          </a:xfrm>
          <a:prstGeom prst="rect">
            <a:avLst/>
          </a:prstGeom>
          <a:noFill/>
        </p:spPr>
        <p:txBody>
          <a:bodyPr wrap="none">
            <a:spAutoFit/>
          </a:bodyPr>
          <a:lstStyle/>
          <a:p>
            <a:pPr>
              <a:defRPr sz="2600" b="1">
                <a:solidFill>
                  <a:srgbClr val="FFFFFF"/>
                </a:solidFill>
              </a:defRPr>
            </a:pPr>
            <a:r>
              <a:t>Audit Backend : Hono, tRPC 11 &amp; Sécurité Zod</a:t>
            </a:r>
          </a:p>
        </p:txBody>
      </p:sp>
      <p:sp>
        <p:nvSpPr>
          <p:cNvPr id="6" name="TextBox 5"/>
          <p:cNvSpPr txBox="1"/>
          <p:nvPr/>
        </p:nvSpPr>
        <p:spPr>
          <a:xfrm>
            <a:off x="548640" y="1463040"/>
            <a:ext cx="11064240" cy="4846320"/>
          </a:xfrm>
          <a:prstGeom prst="rect">
            <a:avLst/>
          </a:prstGeom>
          <a:noFill/>
        </p:spPr>
        <p:txBody>
          <a:bodyPr wrap="square">
            <a:spAutoFit/>
          </a:bodyPr>
          <a:lstStyle/>
          <a:p>
            <a:pPr>
              <a:defRPr b="1" sz="1800">
                <a:solidFill>
                  <a:srgbClr val="001D3D"/>
                </a:solidFill>
              </a:defRPr>
            </a:pPr>
            <a:r>
              <a:t>🚀 Moteur Hono Ultra-Rapide</a:t>
            </a:r>
          </a:p>
          <a:p>
            <a:pPr>
              <a:spcBef>
                <a:spcPts val="400"/>
              </a:spcBef>
              <a:defRPr sz="1500">
                <a:solidFill>
                  <a:srgbClr val="14191E"/>
                </a:solidFill>
              </a:defRPr>
            </a:pPr>
            <a:r>
              <a:t>Utilisé pour sa légèreté extrême et sa vitesse d'exécution sous Node 20. Intègre une limite de payload généreuse de 50 MB pour l'upload de photos de fret et de documents de transport (BOL).</a:t>
            </a:r>
          </a:p>
          <a:p>
            <a:pPr>
              <a:spcBef>
                <a:spcPts val="1400"/>
              </a:spcBef>
              <a:defRPr b="1" sz="1800">
                <a:solidFill>
                  <a:srgbClr val="001D3D"/>
                </a:solidFill>
              </a:defRPr>
            </a:pPr>
            <a:r>
              <a:t>🔗 Routeur tRPC 11 (15 Sous-Modules)</a:t>
            </a:r>
          </a:p>
          <a:p>
            <a:pPr>
              <a:spcBef>
                <a:spcPts val="400"/>
              </a:spcBef>
              <a:defRPr sz="1500">
                <a:solidFill>
                  <a:srgbClr val="14191E"/>
                </a:solidFill>
              </a:defRPr>
            </a:pPr>
            <a:r>
              <a:t>Sépare parfaitement la logique métier en routeurs spécialisés : auth, localAuth, vehicle, shipment, tracking, quote, invoice, blog, faq, testimonial, contact, partner, notification, user, stats.</a:t>
            </a:r>
          </a:p>
          <a:p>
            <a:pPr>
              <a:spcBef>
                <a:spcPts val="1400"/>
              </a:spcBef>
              <a:defRPr b="1" sz="1800">
                <a:solidFill>
                  <a:srgbClr val="001D3D"/>
                </a:solidFill>
              </a:defRPr>
            </a:pPr>
            <a:r>
              <a:t>🛡️ Validation Zod &amp; Contrat de Typage</a:t>
            </a:r>
          </a:p>
          <a:p>
            <a:pPr>
              <a:spcBef>
                <a:spcPts val="400"/>
              </a:spcBef>
              <a:defRPr sz="1500">
                <a:solidFill>
                  <a:srgbClr val="14191E"/>
                </a:solidFill>
              </a:defRPr>
            </a:pPr>
            <a:r>
              <a:t>Chaque payload d'entrée (formulaire de devis, création d'expédition, connexion) est rigoureusement validé par Zod en amont. Zéro risque d'injection ou d'erreur d'interface.</a:t>
            </a:r>
          </a:p>
          <a:p>
            <a:pPr>
              <a:spcBef>
                <a:spcPts val="1400"/>
              </a:spcBef>
              <a:defRPr b="1" sz="1800">
                <a:solidFill>
                  <a:srgbClr val="001D3D"/>
                </a:solidFill>
              </a:defRPr>
            </a:pPr>
            <a:r>
              <a:t>🔐 Authentification &amp; Sécurité JWT</a:t>
            </a:r>
          </a:p>
          <a:p>
            <a:pPr>
              <a:spcBef>
                <a:spcPts val="400"/>
              </a:spcBef>
              <a:defRPr sz="1500">
                <a:solidFill>
                  <a:srgbClr val="14191E"/>
                </a:solidFill>
              </a:defRPr>
            </a:pPr>
            <a:r>
              <a:t>Système double d'authentification (OAuth Kimi + Local Auth email/password Bcrypt). Les tokens JWT sont signés de manière cryptographique et transmis via des cookies httpOnly et SameSite sécurisés.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01D3D"/>
          </a:solidFill>
          <a:ln>
            <a:solidFill>
              <a:srgbClr val="001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73152"/>
          </a:xfrm>
          <a:prstGeom prst="rect">
            <a:avLst/>
          </a:prstGeom>
          <a:solidFill>
            <a:srgbClr val="E63946"/>
          </a:solidFill>
          <a:ln>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9144000" cy="274320"/>
          </a:xfrm>
          <a:prstGeom prst="rect">
            <a:avLst/>
          </a:prstGeom>
          <a:noFill/>
        </p:spPr>
        <p:txBody>
          <a:bodyPr wrap="none">
            <a:spAutoFit/>
          </a:bodyPr>
          <a:lstStyle/>
          <a:p>
            <a:pPr>
              <a:defRPr sz="1100" b="1">
                <a:solidFill>
                  <a:srgbClr val="0FA3B1"/>
                </a:solidFill>
              </a:defRPr>
            </a:pPr>
            <a:r>
              <a:t>COUCHE PERSISTANCE</a:t>
            </a:r>
          </a:p>
        </p:txBody>
      </p:sp>
      <p:sp>
        <p:nvSpPr>
          <p:cNvPr id="5" name="TextBox 4"/>
          <p:cNvSpPr txBox="1"/>
          <p:nvPr/>
        </p:nvSpPr>
        <p:spPr>
          <a:xfrm>
            <a:off x="548640" y="347472"/>
            <a:ext cx="10972800" cy="548640"/>
          </a:xfrm>
          <a:prstGeom prst="rect">
            <a:avLst/>
          </a:prstGeom>
          <a:noFill/>
        </p:spPr>
        <p:txBody>
          <a:bodyPr wrap="none">
            <a:spAutoFit/>
          </a:bodyPr>
          <a:lstStyle/>
          <a:p>
            <a:pPr>
              <a:defRPr sz="2600" b="1">
                <a:solidFill>
                  <a:srgbClr val="FFFFFF"/>
                </a:solidFill>
              </a:defRPr>
            </a:pPr>
            <a:r>
              <a:t>Modèle de Données : MySQL 8.0 &amp; Drizzle ORM</a:t>
            </a:r>
          </a:p>
        </p:txBody>
      </p:sp>
      <p:graphicFrame>
        <p:nvGraphicFramePr>
          <p:cNvPr id="6" name="Table 5"/>
          <p:cNvGraphicFramePr>
            <a:graphicFrameLocks noGrp="1"/>
          </p:cNvGraphicFramePr>
          <p:nvPr/>
        </p:nvGraphicFramePr>
        <p:xfrm>
          <a:off x="548640" y="1371600"/>
          <a:ext cx="11064240" cy="4846320"/>
        </p:xfrm>
        <a:graphic>
          <a:graphicData uri="http://schemas.openxmlformats.org/drawingml/2006/table">
            <a:tbl>
              <a:tblPr firstRow="1" bandRow="1">
                <a:tableStyleId>{5C22544A-7EE6-4342-B048-85BDC9FD1C3A}</a:tableStyleId>
              </a:tblPr>
              <a:tblGrid>
                <a:gridCol w="2103120"/>
                <a:gridCol w="3291840"/>
                <a:gridCol w="5669280"/>
              </a:tblGrid>
              <a:tr h="605790">
                <a:tc>
                  <a:txBody>
                    <a:bodyPr/>
                    <a:lstStyle/>
                    <a:p>
                      <a:pPr>
                        <a:defRPr b="1" sz="1400">
                          <a:solidFill>
                            <a:srgbClr val="FFFFFF"/>
                          </a:solidFill>
                        </a:defRPr>
                      </a:pPr>
                      <a:r>
                        <a:t>Table MySQL</a:t>
                      </a:r>
                    </a:p>
                  </a:txBody>
                  <a:tcPr>
                    <a:solidFill>
                      <a:srgbClr val="001D3D"/>
                    </a:solidFill>
                  </a:tcPr>
                </a:tc>
                <a:tc>
                  <a:txBody>
                    <a:bodyPr/>
                    <a:lstStyle/>
                    <a:p>
                      <a:pPr>
                        <a:defRPr b="1" sz="1400">
                          <a:solidFill>
                            <a:srgbClr val="FFFFFF"/>
                          </a:solidFill>
                        </a:defRPr>
                      </a:pPr>
                      <a:r>
                        <a:t>Rôle Métier</a:t>
                      </a:r>
                    </a:p>
                  </a:txBody>
                  <a:tcPr>
                    <a:solidFill>
                      <a:srgbClr val="001D3D"/>
                    </a:solidFill>
                  </a:tcPr>
                </a:tc>
                <a:tc>
                  <a:txBody>
                    <a:bodyPr/>
                    <a:lstStyle/>
                    <a:p>
                      <a:pPr>
                        <a:defRPr b="1" sz="1400">
                          <a:solidFill>
                            <a:srgbClr val="FFFFFF"/>
                          </a:solidFill>
                        </a:defRPr>
                      </a:pPr>
                      <a:r>
                        <a:t>Spécificités &amp; Contraintes</a:t>
                      </a:r>
                    </a:p>
                  </a:txBody>
                  <a:tcPr>
                    <a:solidFill>
                      <a:srgbClr val="001D3D"/>
                    </a:solidFill>
                  </a:tcPr>
                </a:tc>
              </a:tr>
              <a:tr h="605790">
                <a:tc>
                  <a:txBody>
                    <a:bodyPr/>
                    <a:lstStyle/>
                    <a:p>
                      <a:pPr>
                        <a:defRPr sz="1300" b="1">
                          <a:solidFill>
                            <a:srgbClr val="E63946"/>
                          </a:solidFill>
                        </a:defRPr>
                      </a:pPr>
                      <a:r>
                        <a:t>users</a:t>
                      </a:r>
                    </a:p>
                  </a:txBody>
                  <a:tcPr/>
                </a:tc>
                <a:tc>
                  <a:txBody>
                    <a:bodyPr/>
                    <a:lstStyle/>
                    <a:p>
                      <a:pPr>
                        <a:defRPr sz="1300">
                          <a:solidFill>
                            <a:srgbClr val="14191E"/>
                          </a:solidFill>
                        </a:defRPr>
                      </a:pPr>
                      <a:r>
                        <a:t>Comptes Clients &amp; Admins</a:t>
                      </a:r>
                    </a:p>
                  </a:txBody>
                  <a:tcPr/>
                </a:tc>
                <a:tc>
                  <a:txBody>
                    <a:bodyPr/>
                    <a:lstStyle/>
                    <a:p>
                      <a:pPr>
                        <a:defRPr sz="1300">
                          <a:solidFill>
                            <a:srgbClr val="14191E"/>
                          </a:solidFill>
                        </a:defRPr>
                      </a:pPr>
                      <a:r>
                        <a:t>Identifiants uniques (unionId), hachage Bcrypt, rôles (user, admin, manager)</a:t>
                      </a:r>
                    </a:p>
                  </a:txBody>
                  <a:tcPr/>
                </a:tc>
              </a:tr>
              <a:tr h="605790">
                <a:tc>
                  <a:txBody>
                    <a:bodyPr/>
                    <a:lstStyle/>
                    <a:p>
                      <a:pPr>
                        <a:defRPr sz="1300" b="1">
                          <a:solidFill>
                            <a:srgbClr val="E63946"/>
                          </a:solidFill>
                        </a:defRPr>
                      </a:pPr>
                      <a:r>
                        <a:t>vehicles</a:t>
                      </a:r>
                    </a:p>
                  </a:txBody>
                  <a:tcPr>
                    <a:solidFill>
                      <a:srgbClr val="F5F7FA"/>
                    </a:solidFill>
                  </a:tcPr>
                </a:tc>
                <a:tc>
                  <a:txBody>
                    <a:bodyPr/>
                    <a:lstStyle/>
                    <a:p>
                      <a:pPr>
                        <a:defRPr sz="1300">
                          <a:solidFill>
                            <a:srgbClr val="14191E"/>
                          </a:solidFill>
                        </a:defRPr>
                      </a:pPr>
                      <a:r>
                        <a:t>Flotte de Camions</a:t>
                      </a:r>
                    </a:p>
                  </a:txBody>
                  <a:tcPr>
                    <a:solidFill>
                      <a:srgbClr val="F5F7FA"/>
                    </a:solidFill>
                  </a:tcPr>
                </a:tc>
                <a:tc>
                  <a:txBody>
                    <a:bodyPr/>
                    <a:lstStyle/>
                    <a:p>
                      <a:pPr>
                        <a:defRPr sz="1300">
                          <a:solidFill>
                            <a:srgbClr val="14191E"/>
                          </a:solidFill>
                        </a:defRPr>
                      </a:pPr>
                      <a:r>
                        <a:t>Types (truck, van, trailer, forklift, crane), immatriculation, capacité en tonnes</a:t>
                      </a:r>
                    </a:p>
                  </a:txBody>
                  <a:tcPr>
                    <a:solidFill>
                      <a:srgbClr val="F5F7FA"/>
                    </a:solidFill>
                  </a:tcPr>
                </a:tc>
              </a:tr>
              <a:tr h="605790">
                <a:tc>
                  <a:txBody>
                    <a:bodyPr/>
                    <a:lstStyle/>
                    <a:p>
                      <a:pPr>
                        <a:defRPr sz="1300" b="1">
                          <a:solidFill>
                            <a:srgbClr val="E63946"/>
                          </a:solidFill>
                        </a:defRPr>
                      </a:pPr>
                      <a:r>
                        <a:t>drivers</a:t>
                      </a:r>
                    </a:p>
                  </a:txBody>
                  <a:tcPr/>
                </a:tc>
                <a:tc>
                  <a:txBody>
                    <a:bodyPr/>
                    <a:lstStyle/>
                    <a:p>
                      <a:pPr>
                        <a:defRPr sz="1300">
                          <a:solidFill>
                            <a:srgbClr val="14191E"/>
                          </a:solidFill>
                        </a:defRPr>
                      </a:pPr>
                      <a:r>
                        <a:t>Chauffeurs Routiers</a:t>
                      </a:r>
                    </a:p>
                  </a:txBody>
                  <a:tcPr/>
                </a:tc>
                <a:tc>
                  <a:txBody>
                    <a:bodyPr/>
                    <a:lstStyle/>
                    <a:p>
                      <a:pPr>
                        <a:defRPr sz="1300">
                          <a:solidFill>
                            <a:srgbClr val="14191E"/>
                          </a:solidFill>
                        </a:defRPr>
                      </a:pPr>
                      <a:r>
                        <a:t>Permis CDL (Class A/B), note moyenne (rating), statut (active, off_duty)</a:t>
                      </a:r>
                    </a:p>
                  </a:txBody>
                  <a:tcPr/>
                </a:tc>
              </a:tr>
              <a:tr h="605790">
                <a:tc>
                  <a:txBody>
                    <a:bodyPr/>
                    <a:lstStyle/>
                    <a:p>
                      <a:pPr>
                        <a:defRPr sz="1300" b="1">
                          <a:solidFill>
                            <a:srgbClr val="E63946"/>
                          </a:solidFill>
                        </a:defRPr>
                      </a:pPr>
                      <a:r>
                        <a:t>shipments</a:t>
                      </a:r>
                    </a:p>
                  </a:txBody>
                  <a:tcPr>
                    <a:solidFill>
                      <a:srgbClr val="F5F7FA"/>
                    </a:solidFill>
                  </a:tcPr>
                </a:tc>
                <a:tc>
                  <a:txBody>
                    <a:bodyPr/>
                    <a:lstStyle/>
                    <a:p>
                      <a:pPr>
                        <a:defRPr sz="1300">
                          <a:solidFill>
                            <a:srgbClr val="14191E"/>
                          </a:solidFill>
                        </a:defRPr>
                      </a:pPr>
                      <a:r>
                        <a:t>Expéditions de Fret</a:t>
                      </a:r>
                    </a:p>
                  </a:txBody>
                  <a:tcPr>
                    <a:solidFill>
                      <a:srgbClr val="F5F7FA"/>
                    </a:solidFill>
                  </a:tcPr>
                </a:tc>
                <a:tc>
                  <a:txBody>
                    <a:bodyPr/>
                    <a:lstStyle/>
                    <a:p>
                      <a:pPr>
                        <a:defRPr sz="1300">
                          <a:solidFill>
                            <a:srgbClr val="14191E"/>
                          </a:solidFill>
                        </a:defRPr>
                      </a:pPr>
                      <a:r>
                        <a:t>Numéro de suivi EVT-XXXX, origine/destination, poids, statut de livraison</a:t>
                      </a:r>
                    </a:p>
                  </a:txBody>
                  <a:tcPr>
                    <a:solidFill>
                      <a:srgbClr val="F5F7FA"/>
                    </a:solidFill>
                  </a:tcPr>
                </a:tc>
              </a:tr>
              <a:tr h="605790">
                <a:tc>
                  <a:txBody>
                    <a:bodyPr/>
                    <a:lstStyle/>
                    <a:p>
                      <a:pPr>
                        <a:defRPr sz="1300" b="1">
                          <a:solidFill>
                            <a:srgbClr val="E63946"/>
                          </a:solidFill>
                        </a:defRPr>
                      </a:pPr>
                      <a:r>
                        <a:t>tracking</a:t>
                      </a:r>
                    </a:p>
                  </a:txBody>
                  <a:tcPr/>
                </a:tc>
                <a:tc>
                  <a:txBody>
                    <a:bodyPr/>
                    <a:lstStyle/>
                    <a:p>
                      <a:pPr>
                        <a:defRPr sz="1300">
                          <a:solidFill>
                            <a:srgbClr val="14191E"/>
                          </a:solidFill>
                        </a:defRPr>
                      </a:pPr>
                      <a:r>
                        <a:t>Historique GPS</a:t>
                      </a:r>
                    </a:p>
                  </a:txBody>
                  <a:tcPr/>
                </a:tc>
                <a:tc>
                  <a:txBody>
                    <a:bodyPr/>
                    <a:lstStyle/>
                    <a:p>
                      <a:pPr>
                        <a:defRPr sz="1300">
                          <a:solidFill>
                            <a:srgbClr val="14191E"/>
                          </a:solidFill>
                        </a:defRPr>
                      </a:pPr>
                      <a:r>
                        <a:t>Lié aux shipments, horodatage, coordonnées (latitude, longitude) &amp; description</a:t>
                      </a:r>
                    </a:p>
                  </a:txBody>
                  <a:tcPr/>
                </a:tc>
              </a:tr>
              <a:tr h="605790">
                <a:tc>
                  <a:txBody>
                    <a:bodyPr/>
                    <a:lstStyle/>
                    <a:p>
                      <a:pPr>
                        <a:defRPr sz="1300" b="1">
                          <a:solidFill>
                            <a:srgbClr val="E63946"/>
                          </a:solidFill>
                        </a:defRPr>
                      </a:pPr>
                      <a:r>
                        <a:t>invoices</a:t>
                      </a:r>
                    </a:p>
                  </a:txBody>
                  <a:tcPr>
                    <a:solidFill>
                      <a:srgbClr val="F5F7FA"/>
                    </a:solidFill>
                  </a:tcPr>
                </a:tc>
                <a:tc>
                  <a:txBody>
                    <a:bodyPr/>
                    <a:lstStyle/>
                    <a:p>
                      <a:pPr>
                        <a:defRPr sz="1300">
                          <a:solidFill>
                            <a:srgbClr val="14191E"/>
                          </a:solidFill>
                        </a:defRPr>
                      </a:pPr>
                      <a:r>
                        <a:t>Facturation &amp; Taxes</a:t>
                      </a:r>
                    </a:p>
                  </a:txBody>
                  <a:tcPr>
                    <a:solidFill>
                      <a:srgbClr val="F5F7FA"/>
                    </a:solidFill>
                  </a:tcPr>
                </a:tc>
                <a:tc>
                  <a:txBody>
                    <a:bodyPr/>
                    <a:lstStyle/>
                    <a:p>
                      <a:pPr>
                        <a:defRPr sz="1300">
                          <a:solidFill>
                            <a:srgbClr val="14191E"/>
                          </a:solidFill>
                        </a:defRPr>
                      </a:pPr>
                      <a:r>
                        <a:t>Montants H.T., TVA, Total TTC, statut (draft, sent, paid, overdue)</a:t>
                      </a:r>
                    </a:p>
                  </a:txBody>
                  <a:tcPr>
                    <a:solidFill>
                      <a:srgbClr val="F5F7FA"/>
                    </a:solidFill>
                  </a:tcPr>
                </a:tc>
              </a:tr>
              <a:tr h="605790">
                <a:tc>
                  <a:txBody>
                    <a:bodyPr/>
                    <a:lstStyle/>
                    <a:p>
                      <a:pPr>
                        <a:defRPr sz="1300" b="1">
                          <a:solidFill>
                            <a:srgbClr val="E63946"/>
                          </a:solidFill>
                        </a:defRPr>
                      </a:pPr>
                      <a:r>
                        <a:t>quote_requests / contact</a:t>
                      </a:r>
                    </a:p>
                  </a:txBody>
                  <a:tcPr/>
                </a:tc>
                <a:tc>
                  <a:txBody>
                    <a:bodyPr/>
                    <a:lstStyle/>
                    <a:p>
                      <a:pPr>
                        <a:defRPr sz="1300">
                          <a:solidFill>
                            <a:srgbClr val="14191E"/>
                          </a:solidFill>
                        </a:defRPr>
                      </a:pPr>
                      <a:r>
                        <a:t>Prospects &amp; Support CRM</a:t>
                      </a:r>
                    </a:p>
                  </a:txBody>
                  <a:tcPr/>
                </a:tc>
                <a:tc>
                  <a:txBody>
                    <a:bodyPr/>
                    <a:lstStyle/>
                    <a:p>
                      <a:pPr>
                        <a:defRPr sz="1300">
                          <a:solidFill>
                            <a:srgbClr val="14191E"/>
                          </a:solidFill>
                        </a:defRPr>
                      </a:pPr>
                      <a:r>
                        <a:t>Calcul de volume de fret, suivi d'examen des demandes, archivage de support</a:t>
                      </a:r>
                    </a:p>
                  </a:txBody>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01D3D"/>
          </a:solidFill>
          <a:ln>
            <a:solidFill>
              <a:srgbClr val="001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73152"/>
          </a:xfrm>
          <a:prstGeom prst="rect">
            <a:avLst/>
          </a:prstGeom>
          <a:solidFill>
            <a:srgbClr val="E63946"/>
          </a:solidFill>
          <a:ln>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9144000" cy="274320"/>
          </a:xfrm>
          <a:prstGeom prst="rect">
            <a:avLst/>
          </a:prstGeom>
          <a:noFill/>
        </p:spPr>
        <p:txBody>
          <a:bodyPr wrap="none">
            <a:spAutoFit/>
          </a:bodyPr>
          <a:lstStyle/>
          <a:p>
            <a:pPr>
              <a:defRPr sz="1100" b="1">
                <a:solidFill>
                  <a:srgbClr val="0FA3B1"/>
                </a:solidFill>
              </a:defRPr>
            </a:pPr>
            <a:r>
              <a:t>INFRASTRUCTURE &amp; PROD</a:t>
            </a:r>
          </a:p>
        </p:txBody>
      </p:sp>
      <p:sp>
        <p:nvSpPr>
          <p:cNvPr id="5" name="TextBox 4"/>
          <p:cNvSpPr txBox="1"/>
          <p:nvPr/>
        </p:nvSpPr>
        <p:spPr>
          <a:xfrm>
            <a:off x="548640" y="347472"/>
            <a:ext cx="10972800" cy="548640"/>
          </a:xfrm>
          <a:prstGeom prst="rect">
            <a:avLst/>
          </a:prstGeom>
          <a:noFill/>
        </p:spPr>
        <p:txBody>
          <a:bodyPr wrap="none">
            <a:spAutoFit/>
          </a:bodyPr>
          <a:lstStyle/>
          <a:p>
            <a:pPr>
              <a:defRPr sz="2600" b="1">
                <a:solidFill>
                  <a:srgbClr val="FFFFFF"/>
                </a:solidFill>
              </a:defRPr>
            </a:pPr>
            <a:r>
              <a:t>DevOps, Sécurité Nginx &amp; Déploiement VPS</a:t>
            </a:r>
          </a:p>
        </p:txBody>
      </p:sp>
      <p:sp>
        <p:nvSpPr>
          <p:cNvPr id="6" name="TextBox 5"/>
          <p:cNvSpPr txBox="1"/>
          <p:nvPr/>
        </p:nvSpPr>
        <p:spPr>
          <a:xfrm>
            <a:off x="548640" y="1463040"/>
            <a:ext cx="11064240" cy="4846320"/>
          </a:xfrm>
          <a:prstGeom prst="rect">
            <a:avLst/>
          </a:prstGeom>
          <a:noFill/>
        </p:spPr>
        <p:txBody>
          <a:bodyPr wrap="square">
            <a:spAutoFit/>
          </a:bodyPr>
          <a:lstStyle/>
          <a:p>
            <a:pPr>
              <a:defRPr b="1" sz="1800">
                <a:solidFill>
                  <a:srgbClr val="E63946"/>
                </a:solidFill>
              </a:defRPr>
            </a:pPr>
            <a:r>
              <a:t>🛡️ En-têtes de Sécurité Strictes (Nginx Alpine)</a:t>
            </a:r>
          </a:p>
          <a:p>
            <a:pPr>
              <a:spcBef>
                <a:spcPts val="400"/>
              </a:spcBef>
              <a:defRPr sz="1500">
                <a:solidFill>
                  <a:srgbClr val="14191E"/>
                </a:solidFill>
              </a:defRPr>
            </a:pPr>
            <a:r>
              <a:t>Le reverse proxy applique des règles incontournables : X-Frame-Options SAMEORIGIN anti-clickjacking, X-XSS-Protection, X-Content-Type-Options nosniff, et Content-Security-Policy (CSP).</a:t>
            </a:r>
          </a:p>
          <a:p>
            <a:pPr>
              <a:spcBef>
                <a:spcPts val="1400"/>
              </a:spcBef>
              <a:defRPr b="1" sz="1800">
                <a:solidFill>
                  <a:srgbClr val="E63946"/>
                </a:solidFill>
              </a:defRPr>
            </a:pPr>
            <a:r>
              <a:t>⚡ Optimisation &amp; Compression de Bande Passante</a:t>
            </a:r>
          </a:p>
          <a:p>
            <a:pPr>
              <a:spcBef>
                <a:spcPts val="400"/>
              </a:spcBef>
              <a:defRPr sz="1500">
                <a:solidFill>
                  <a:srgbClr val="14191E"/>
                </a:solidFill>
              </a:defRPr>
            </a:pPr>
            <a:r>
              <a:t>Compression Gzip de niveau 6 active sur l'ensemble des flux JSON, CSS, JS et SVG. Les actifs statiques du frontend bénéficient d'une mise en cache longue durée d'1 an (immutable).</a:t>
            </a:r>
          </a:p>
          <a:p>
            <a:pPr>
              <a:spcBef>
                <a:spcPts val="1400"/>
              </a:spcBef>
              <a:defRPr b="1" sz="1800">
                <a:solidFill>
                  <a:srgbClr val="E63946"/>
                </a:solidFill>
              </a:defRPr>
            </a:pPr>
            <a:r>
              <a:t>🐳 Builds Multi-Stage Docker</a:t>
            </a:r>
          </a:p>
          <a:p>
            <a:pPr>
              <a:spcBef>
                <a:spcPts val="400"/>
              </a:spcBef>
              <a:defRPr sz="1500">
                <a:solidFill>
                  <a:srgbClr val="14191E"/>
                </a:solidFill>
              </a:defRPr>
            </a:pPr>
            <a:r>
              <a:t>Les images de production (Dockerfile.prod) compilent le TypeScript et les assets Vite dans des étapes temporaires (builders), ne copiant que les artefacts finaux dans des images Alpine légères.</a:t>
            </a:r>
          </a:p>
          <a:p>
            <a:pPr>
              <a:spcBef>
                <a:spcPts val="1400"/>
              </a:spcBef>
              <a:defRPr b="1" sz="1800">
                <a:solidFill>
                  <a:srgbClr val="E63946"/>
                </a:solidFill>
              </a:defRPr>
            </a:pPr>
            <a:r>
              <a:t>🔑 Sécurité des Variables d'Environnement (.env.production)</a:t>
            </a:r>
          </a:p>
          <a:p>
            <a:pPr>
              <a:spcBef>
                <a:spcPts val="400"/>
              </a:spcBef>
              <a:defRPr sz="1500">
                <a:solidFill>
                  <a:srgbClr val="14191E"/>
                </a:solidFill>
              </a:defRPr>
            </a:pPr>
            <a:r>
              <a:t>Isolation stricte entre le développement local et la production. Les secrets cryptographiques et mots de passe bases de données sont externalisés via des templates sécurisés.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001D3D"/>
          </a:solidFill>
          <a:ln>
            <a:solidFill>
              <a:srgbClr val="001D3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1005840"/>
            <a:ext cx="12191695" cy="73152"/>
          </a:xfrm>
          <a:prstGeom prst="rect">
            <a:avLst/>
          </a:prstGeom>
          <a:solidFill>
            <a:srgbClr val="E63946"/>
          </a:solidFill>
          <a:ln>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9728"/>
            <a:ext cx="9144000" cy="274320"/>
          </a:xfrm>
          <a:prstGeom prst="rect">
            <a:avLst/>
          </a:prstGeom>
          <a:noFill/>
        </p:spPr>
        <p:txBody>
          <a:bodyPr wrap="none">
            <a:spAutoFit/>
          </a:bodyPr>
          <a:lstStyle/>
          <a:p>
            <a:pPr>
              <a:defRPr sz="1100" b="1">
                <a:solidFill>
                  <a:srgbClr val="0FA3B1"/>
                </a:solidFill>
              </a:defRPr>
            </a:pPr>
            <a:r>
              <a:t>SYNTHÈSE &amp; NEXT STEPS</a:t>
            </a:r>
          </a:p>
        </p:txBody>
      </p:sp>
      <p:sp>
        <p:nvSpPr>
          <p:cNvPr id="5" name="TextBox 4"/>
          <p:cNvSpPr txBox="1"/>
          <p:nvPr/>
        </p:nvSpPr>
        <p:spPr>
          <a:xfrm>
            <a:off x="548640" y="347472"/>
            <a:ext cx="10972800" cy="548640"/>
          </a:xfrm>
          <a:prstGeom prst="rect">
            <a:avLst/>
          </a:prstGeom>
          <a:noFill/>
        </p:spPr>
        <p:txBody>
          <a:bodyPr wrap="none">
            <a:spAutoFit/>
          </a:bodyPr>
          <a:lstStyle/>
          <a:p>
            <a:pPr>
              <a:defRPr sz="2600" b="1">
                <a:solidFill>
                  <a:srgbClr val="FFFFFF"/>
                </a:solidFill>
              </a:defRPr>
            </a:pPr>
            <a:r>
              <a:t>Forces du Projet &amp; Feuille de Route</a:t>
            </a:r>
          </a:p>
        </p:txBody>
      </p:sp>
      <p:sp>
        <p:nvSpPr>
          <p:cNvPr id="6" name="Rounded Rectangle 5"/>
          <p:cNvSpPr/>
          <p:nvPr/>
        </p:nvSpPr>
        <p:spPr>
          <a:xfrm>
            <a:off x="548640" y="1463040"/>
            <a:ext cx="5303520" cy="4754880"/>
          </a:xfrm>
          <a:prstGeom prst="roundRect">
            <a:avLst/>
          </a:prstGeom>
          <a:solidFill>
            <a:srgbClr val="EBF5FA"/>
          </a:solidFill>
          <a:ln>
            <a:solidFill>
              <a:srgbClr val="0FA3B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645920"/>
            <a:ext cx="4937760" cy="4389120"/>
          </a:xfrm>
          <a:prstGeom prst="rect">
            <a:avLst/>
          </a:prstGeom>
          <a:noFill/>
        </p:spPr>
        <p:txBody>
          <a:bodyPr wrap="square">
            <a:spAutoFit/>
          </a:bodyPr>
          <a:lstStyle/>
          <a:p>
            <a:pPr>
              <a:defRPr b="1" sz="2000">
                <a:solidFill>
                  <a:srgbClr val="001D3D"/>
                </a:solidFill>
              </a:defRPr>
            </a:pPr>
            <a:r>
              <a:t>✅ Forces Majeures d'EverTruck</a:t>
            </a:r>
          </a:p>
          <a:p>
            <a:pPr>
              <a:spcBef>
                <a:spcPts val="1200"/>
              </a:spcBef>
              <a:defRPr sz="1500">
                <a:solidFill>
                  <a:srgbClr val="14191E"/>
                </a:solidFill>
              </a:defRPr>
            </a:pPr>
            <a:r>
              <a:t>• Zéro Dette Technique : Couplage parfait TypeScript + tRPC + Drizzle ORM.</a:t>
            </a:r>
          </a:p>
          <a:p>
            <a:pPr>
              <a:spcBef>
                <a:spcPts val="1200"/>
              </a:spcBef>
              <a:defRPr sz="1500">
                <a:solidFill>
                  <a:srgbClr val="14191E"/>
                </a:solidFill>
              </a:defRPr>
            </a:pPr>
            <a:r>
              <a:t>• UX/UI Haut de Gamme : Rendu 3D sur le Héro, compteurs interactifs et design soigné.</a:t>
            </a:r>
          </a:p>
          <a:p>
            <a:pPr>
              <a:spcBef>
                <a:spcPts val="1200"/>
              </a:spcBef>
              <a:defRPr sz="1500">
                <a:solidFill>
                  <a:srgbClr val="14191E"/>
                </a:solidFill>
              </a:defRPr>
            </a:pPr>
            <a:r>
              <a:t>• Autonomie Administrative : AdminDashboard de 11 onglets couvrant 100% du cycle de vie logistique.</a:t>
            </a:r>
          </a:p>
          <a:p>
            <a:pPr>
              <a:spcBef>
                <a:spcPts val="1200"/>
              </a:spcBef>
              <a:defRPr sz="1500">
                <a:solidFill>
                  <a:srgbClr val="14191E"/>
                </a:solidFill>
              </a:defRPr>
            </a:pPr>
            <a:r>
              <a:t>• Sécurité et Isolation : Réseau Docker privé avec proxy Nginx en bouclier.</a:t>
            </a:r>
          </a:p>
        </p:txBody>
      </p:sp>
      <p:sp>
        <p:nvSpPr>
          <p:cNvPr id="8" name="Rounded Rectangle 7"/>
          <p:cNvSpPr/>
          <p:nvPr/>
        </p:nvSpPr>
        <p:spPr>
          <a:xfrm>
            <a:off x="6217920" y="1463040"/>
            <a:ext cx="5303520" cy="4754880"/>
          </a:xfrm>
          <a:prstGeom prst="roundRect">
            <a:avLst/>
          </a:prstGeom>
          <a:solidFill>
            <a:srgbClr val="FFF3F3"/>
          </a:solidFill>
          <a:ln>
            <a:solidFill>
              <a:srgbClr val="E6394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0" y="1645920"/>
            <a:ext cx="4937760" cy="4389120"/>
          </a:xfrm>
          <a:prstGeom prst="rect">
            <a:avLst/>
          </a:prstGeom>
          <a:noFill/>
        </p:spPr>
        <p:txBody>
          <a:bodyPr wrap="square">
            <a:spAutoFit/>
          </a:bodyPr>
          <a:lstStyle/>
          <a:p>
            <a:pPr>
              <a:defRPr b="1" sz="2000">
                <a:solidFill>
                  <a:srgbClr val="E63946"/>
                </a:solidFill>
              </a:defRPr>
            </a:pPr>
            <a:r>
              <a:t>🚀 Recommandations d'Évolution</a:t>
            </a:r>
          </a:p>
          <a:p>
            <a:pPr>
              <a:spcBef>
                <a:spcPts val="1400"/>
              </a:spcBef>
              <a:defRPr sz="1500">
                <a:solidFill>
                  <a:srgbClr val="14191E"/>
                </a:solidFill>
              </a:defRPr>
            </a:pPr>
            <a:r>
              <a:t>• Suivi GPS WebSockets / SSE : Animer en continu la position des camions sur une carte interactive sans rechargement.</a:t>
            </a:r>
          </a:p>
          <a:p>
            <a:pPr>
              <a:spcBef>
                <a:spcPts val="1400"/>
              </a:spcBef>
              <a:defRPr sz="1500">
                <a:solidFill>
                  <a:srgbClr val="14191E"/>
                </a:solidFill>
              </a:defRPr>
            </a:pPr>
            <a:r>
              <a:t>• Export PDF des Factures : Intégrer Puppeteer / PDFKit côté serveur pour télécharger instantanément les factures et bons de livraison.</a:t>
            </a:r>
          </a:p>
          <a:p>
            <a:pPr>
              <a:spcBef>
                <a:spcPts val="1400"/>
              </a:spcBef>
              <a:defRPr sz="1500">
                <a:solidFill>
                  <a:srgbClr val="14191E"/>
                </a:solidFill>
              </a:defRPr>
            </a:pPr>
            <a:r>
              <a:t>• Notifications SMS &amp; Email : Relier notificationRouter à SendGrid ou Twilio pour prévenir le client à chaque étape d'acheminement.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